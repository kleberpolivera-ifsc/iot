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9952EFD-8F82-472C-A9EE-DC782AA88EF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Apresentação dividida em duas partes: primeiro os conceitos do MQTT, depois um exemplo completo com ESP32, broker Mosquitto e um assinante em Python. O desenho à direita já antecipa a ideia central: vários dispositivos ligados a um ponto central, o broker.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9672E-EB05-457F-BB7F-CFC622E047C5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MQTT nasceu para monitorar oleodutos via satélite, onde banda era cara e a conexão caía com frequência. Por isso é tão enxuto. Hoje é padrão aberto da OASIS; a versão 5.0 trouxe códigos de motivo, propriedades de usuário e expiração de mensagens, mas a 3.1.1 ainda é muito comum em bibliotecas para microcontroladores.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A8443-EFF6-4C85-98EB-DB5BBC74B98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Diferente de HTTP, em que o cliente pergunta e o servidor responde, no MQTT ninguém fala diretamente com ninguém. Todos mantêm uma conexão TCP aberta com o broker. Um dispositivo publica num tópico; o broker entrega a todos os clientes que assinaram aquele tópico. Um mesmo cliente pode publicar e assinar ao mesmo tempo, como o ESP32 que publica temperatura e assina comandos da luz.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BAA146-3393-4ACA-94FE-C89CF2FD7C8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Tópicos não precisam ser criados antes: existem a partir do momento em que alguém publica neles. São sensíveis a maiúsculas e minúsculas. Os curingas só valem na assinatura, nunca na publicação. O # tem de ser o último nível do filtro. Uma boa hierarquia desde o começo evita retrabalho quando o projeto cresce.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722713-BF6E-4596-AE42-C90F6A47239F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QoS vale para cada trecho separadamente: do publicador ao broker e do broker ao assinante. O nível efetivo de entrega é o menor entre o da publicação e o da assinatura. Para um sensor que publica a cada poucos segundos, perder uma leitura não faz falta, então QoS 0 basta. O QoS 2 usa PUBLISH, PUBREC, PUBREL e PUBCOMP.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29C839-9296-4667-8DEB-3E2FE80E247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Retain mais Last Will é a combinação clássica para status de dispositivo: ao conectar, o dispositivo publica "online" com retain; o Last Will publica "offline" com retain. Assim qualquer painel que abrir depois sabe na hora se o dispositivo está vivo. A sessão persistente é ativada com clean session falso (MQTT 3.1.1) ou clean start falso com tempo de expiração (MQTT 5).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B494D1-837E-4D4B-82C4-5E57F3B6BF8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vamos montar o fluxo completo com o mínimo de peças: um sensor, um broker e um assinante. Tudo roda numa rede local.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A2DD4E-2466-48BC-B1BA-63BC6F0CF62D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payload é só o número em texto, o formato mais simples possível. Quando houver mais de um valor, como temperatura e umidade juntas, vale passar a usar JSON. O DHT22 é ligado no 3,3 V, no GND e no pino de dados 4 do ESP32; se for o sensor avulso, e não um módulo, use um resistor de pull-up de 10 kΩ no pino de dados.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7A5BB1-3F50-450A-8093-17B97FD8455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Código mínimo para a Arduino IDE com o pacote de placas do ESP32 e as bibliotecas PubSubClient (Nick O'Leary) e DHT sensor library (Adafruit). Troque SSID, senha e o IP da máquina onde o Mosquitto roda. O client id "esp32-sala" precisa ser único no broker. Se a leitura falhar, isnan detecta e o loop recomeça sem publicar lixo. Num projeto real, troque o delay por uma checagem com millis() para não bloquear o loop.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00E256-1F8E-4B4A-908A-EB90DDD454F0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script usa a API da paho-mqtt 2.x, que exige informar a versão dos callbacks. O curinga + faz o mesmo script receber a temperatura de qualquer cômodo. Antes de escrever qualquer código, o mosquitto_sub é a forma mais rápida de confirmar que o ESP32 está publicando. A opção -v mostra o tópico junto com a mensagem.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E15506-075B-4F66-84BC-B6CA4170C27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Um broker MQTT exposto na internet sem senha é um problema real: qualquer um pode ler os dados e publicar comandos nos seus dispositivos. Para testes rápidos existem brokers públicos como o test.mosquitto.org, mas nunca coloque dados sensíveis neles.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4ADA61-C601-4EB4-9FC2-CD3721C3D8AF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passo reaproveita o que já foi montado: o mesmo broker, o mesmo padrão de tópicos. Para o controle, o ESP32 usa mqtt.subscribe e um callback definido com mqtt.setCallback.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2F617B-1BA3-406C-9AF9-1148BECB4E8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44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</a:lstStyle>
          <a:p>
            <a:pPr indent="0" algn="l"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title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564560"/>
            <a:ext cx="10566000" cy="44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Click to edit the outline text format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Second Outline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Third Outline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Fourth Outline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Fifth Outline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Sixth Outline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Seventh Outline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4.png"/><Relationship Id="rId8" Type="http://schemas.openxmlformats.org/officeDocument/2006/relationships/image" Target="../media/image4.png"/><Relationship Id="rId9" Type="http://schemas.openxmlformats.org/officeDocument/2006/relationships/image" Target="../media/image4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493040" y="0"/>
            <a:ext cx="4698720" cy="685764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749268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connector"/>
          <p:cNvPicPr/>
          <p:nvPr/>
        </p:nvPicPr>
        <p:blipFill>
          <a:blip r:embed="rId1"/>
          <a:stretch/>
        </p:blipFill>
        <p:spPr>
          <a:xfrm>
            <a:off x="8394840" y="1854360"/>
            <a:ext cx="1498320" cy="16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1" descr="connector"/>
          <p:cNvPicPr/>
          <p:nvPr/>
        </p:nvPicPr>
        <p:blipFill>
          <a:blip r:embed="rId2"/>
          <a:stretch/>
        </p:blipFill>
        <p:spPr>
          <a:xfrm>
            <a:off x="9791640" y="1854360"/>
            <a:ext cx="1498320" cy="16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2" descr="connector"/>
          <p:cNvPicPr/>
          <p:nvPr/>
        </p:nvPicPr>
        <p:blipFill>
          <a:blip r:embed="rId3"/>
          <a:stretch/>
        </p:blipFill>
        <p:spPr>
          <a:xfrm>
            <a:off x="8394840" y="3378240"/>
            <a:ext cx="1498320" cy="16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Image 3" descr="connector"/>
          <p:cNvPicPr/>
          <p:nvPr/>
        </p:nvPicPr>
        <p:blipFill>
          <a:blip r:embed="rId4"/>
          <a:stretch/>
        </p:blipFill>
        <p:spPr>
          <a:xfrm>
            <a:off x="9791640" y="3378240"/>
            <a:ext cx="1498320" cy="162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Image 4" descr="ellipse"/>
          <p:cNvPicPr/>
          <p:nvPr/>
        </p:nvPicPr>
        <p:blipFill>
          <a:blip r:embed="rId5"/>
          <a:stretch/>
        </p:blipFill>
        <p:spPr>
          <a:xfrm>
            <a:off x="9334440" y="2921040"/>
            <a:ext cx="1015560" cy="101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Image 5" descr="rect"/>
          <p:cNvPicPr/>
          <p:nvPr/>
        </p:nvPicPr>
        <p:blipFill>
          <a:blip r:embed="rId6"/>
          <a:stretch/>
        </p:blipFill>
        <p:spPr>
          <a:xfrm>
            <a:off x="8191440" y="1650960"/>
            <a:ext cx="507600" cy="50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Image 6" descr="rect"/>
          <p:cNvPicPr/>
          <p:nvPr/>
        </p:nvPicPr>
        <p:blipFill>
          <a:blip r:embed="rId7"/>
          <a:stretch/>
        </p:blipFill>
        <p:spPr>
          <a:xfrm>
            <a:off x="10985400" y="1650960"/>
            <a:ext cx="507600" cy="50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Image 7" descr="rect"/>
          <p:cNvPicPr/>
          <p:nvPr/>
        </p:nvPicPr>
        <p:blipFill>
          <a:blip r:embed="rId8"/>
          <a:stretch/>
        </p:blipFill>
        <p:spPr>
          <a:xfrm>
            <a:off x="8191440" y="4699080"/>
            <a:ext cx="507600" cy="50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Image 8" descr="rect"/>
          <p:cNvPicPr/>
          <p:nvPr/>
        </p:nvPicPr>
        <p:blipFill>
          <a:blip r:embed="rId9"/>
          <a:stretch/>
        </p:blipFill>
        <p:spPr>
          <a:xfrm>
            <a:off x="10985400" y="4699080"/>
            <a:ext cx="507600" cy="50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812880" y="2053800"/>
            <a:ext cx="6017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pc="99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INSTITUTO FEDERAL DE SANTA CATARINA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12880" y="2521080"/>
            <a:ext cx="6017040" cy="66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MQTT na prática</a:t>
            </a:r>
            <a:endParaRPr lang="pt-BR" sz="4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812880" y="3414960"/>
            <a:ext cx="761760" cy="5040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12880" y="3719880"/>
            <a:ext cx="588600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29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O protocolo leve que conecta a Internet das Coisas, com um exemplo simples do sensor ao painel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797400" y="4860000"/>
            <a:ext cx="4242600" cy="9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ts val="2429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59645D"/>
                </a:solidFill>
                <a:effectLst/>
                <a:uFillTx/>
                <a:latin typeface="Open Sans"/>
              </a:rPr>
              <a:t>Prof. Edjandir Corrêa Costa</a:t>
            </a:r>
            <a:endParaRPr lang="pt-BR" sz="1800" b="0" u="none" strike="noStrike">
              <a:solidFill>
                <a:srgbClr val="59645D"/>
              </a:solidFill>
              <a:effectLst/>
              <a:uFillTx/>
              <a:latin typeface="Open Sans"/>
            </a:endParaRPr>
          </a:p>
          <a:p>
            <a:pPr defTabSz="914400">
              <a:lnSpc>
                <a:spcPts val="2429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59645D"/>
                </a:solidFill>
                <a:effectLst/>
                <a:uFillTx/>
                <a:latin typeface="Open Sans"/>
              </a:rPr>
              <a:t>Campus Tubarão</a:t>
            </a:r>
            <a:endParaRPr lang="pt-BR" sz="1800" b="0" u="none" strike="noStrike">
              <a:solidFill>
                <a:srgbClr val="59645D"/>
              </a:solidFill>
              <a:effectLst/>
              <a:uFillTx/>
              <a:latin typeface="Open Sans"/>
            </a:endParaRPr>
          </a:p>
          <a:p>
            <a:pPr defTabSz="914400">
              <a:lnSpc>
                <a:spcPts val="2429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59645D"/>
                </a:solidFill>
                <a:effectLst/>
                <a:uFillTx/>
                <a:latin typeface="Open Sans"/>
              </a:rPr>
              <a:t>Especialização e Inovação e Tecnologia</a:t>
            </a:r>
            <a:endParaRPr lang="pt-BR" sz="1800" b="0" u="none" strike="noStrike">
              <a:solidFill>
                <a:srgbClr val="59645D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O que é MQTT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28" name="Text 2"/>
          <p:cNvSpPr/>
          <p:nvPr/>
        </p:nvSpPr>
        <p:spPr>
          <a:xfrm>
            <a:off x="812880" y="1615320"/>
            <a:ext cx="5389200" cy="12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29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Um protocolo de mensagens leve, baseado em </a:t>
            </a: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publicação e assinatura</a:t>
            </a:r>
            <a:r>
              <a:rPr lang="pt-BR" sz="18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, pensado para dispositivos com pouca memória e redes instáveis.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812880" y="3053160"/>
            <a:ext cx="5389200" cy="79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3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É um dos protocolos mais usados em IoT: automação residencial, indústria, telemetria de veículos e monitoramento agrícola.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6553080" y="1621440"/>
            <a:ext cx="4825800" cy="360"/>
          </a:xfrm>
          <a:prstGeom prst="line">
            <a:avLst/>
          </a:prstGeom>
          <a:ln w="12700">
            <a:solidFill>
              <a:srgbClr val="1E26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6553080" y="1752840"/>
            <a:ext cx="144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SIGLA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102520" y="1752840"/>
            <a:ext cx="337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Message Queuing Telemetry Transport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6553080" y="2131920"/>
            <a:ext cx="482580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553080" y="2261160"/>
            <a:ext cx="14475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ORIGEM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102520" y="2261160"/>
            <a:ext cx="33746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1999, IBM e Arcom (Andy Stanford-Clark e Arlen Nipper)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6553080" y="2889000"/>
            <a:ext cx="482580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6553080" y="3018240"/>
            <a:ext cx="144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TRANSPORTE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102520" y="3018240"/>
            <a:ext cx="337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TCP/IP · porta 1883, ou 8883 com TLS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6553080" y="3397320"/>
            <a:ext cx="482580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6553080" y="3526560"/>
            <a:ext cx="144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PADRÃO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102520" y="3526560"/>
            <a:ext cx="337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OASIS · versões 3.1.1 e 5.0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6553080" y="3905280"/>
            <a:ext cx="482580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6553080" y="4412520"/>
            <a:ext cx="482580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6553080" y="4034520"/>
            <a:ext cx="144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CABEÇALHO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102520" y="4034520"/>
            <a:ext cx="3374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fixo de apenas 2 bytes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Publicação e assinatura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49" name="Text 2"/>
          <p:cNvSpPr/>
          <p:nvPr/>
        </p:nvSpPr>
        <p:spPr>
          <a:xfrm>
            <a:off x="812880" y="1681200"/>
            <a:ext cx="2615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pc="51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PUBLICADORES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816120" y="1999080"/>
            <a:ext cx="2533320" cy="897840"/>
          </a:xfrm>
          <a:prstGeom prst="roundRect">
            <a:avLst>
              <a:gd name="adj" fmla="val 10958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1021320" y="2179080"/>
            <a:ext cx="21862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Sensor ESP32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021320" y="2504160"/>
            <a:ext cx="21862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37A33"/>
                </a:solidFill>
                <a:effectLst/>
                <a:uFillTx/>
                <a:latin typeface="IBM Plex Mono"/>
                <a:ea typeface="IBM Plex Mono"/>
              </a:rPr>
              <a:t>casa/sala/temperatura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816120" y="3005280"/>
            <a:ext cx="2533320" cy="897840"/>
          </a:xfrm>
          <a:prstGeom prst="roundRect">
            <a:avLst>
              <a:gd name="adj" fmla="val 10958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021320" y="3185280"/>
            <a:ext cx="21862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App no celular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1021320" y="3510360"/>
            <a:ext cx="21862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37A33"/>
                </a:solidFill>
                <a:effectLst/>
                <a:uFillTx/>
                <a:latin typeface="IBM Plex Mono"/>
                <a:ea typeface="IBM Plex Mono"/>
              </a:rPr>
              <a:t>casa/sala/luz/set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3628080" y="2458440"/>
            <a:ext cx="6170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publica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arrow-right"/>
          <p:cNvPicPr/>
          <p:nvPr/>
        </p:nvPicPr>
        <p:blipFill>
          <a:blip r:embed="rId1"/>
          <a:stretch/>
        </p:blipFill>
        <p:spPr>
          <a:xfrm>
            <a:off x="3556080" y="2748240"/>
            <a:ext cx="76176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Shape 10"/>
          <p:cNvSpPr/>
          <p:nvPr/>
        </p:nvSpPr>
        <p:spPr>
          <a:xfrm>
            <a:off x="4521240" y="1615320"/>
            <a:ext cx="3149280" cy="2356560"/>
          </a:xfrm>
          <a:prstGeom prst="roundRect">
            <a:avLst>
              <a:gd name="adj" fmla="val 6466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Cloud"/>
          <p:cNvPicPr/>
          <p:nvPr/>
        </p:nvPicPr>
        <p:blipFill>
          <a:blip r:embed="rId2"/>
          <a:stretch/>
        </p:blipFill>
        <p:spPr>
          <a:xfrm>
            <a:off x="5867280" y="19202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1"/>
          <p:cNvSpPr/>
          <p:nvPr/>
        </p:nvSpPr>
        <p:spPr>
          <a:xfrm>
            <a:off x="5645880" y="2478960"/>
            <a:ext cx="8996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Broker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4683240" y="2854800"/>
            <a:ext cx="282528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recebe cada mensagem e repassa a quem assinou o tópico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4967280" y="3454200"/>
            <a:ext cx="2257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B9C4BD"/>
                </a:solidFill>
                <a:effectLst/>
                <a:uFillTx/>
                <a:latin typeface="Open Sans"/>
                <a:ea typeface="Open Sans"/>
              </a:rPr>
              <a:t>Mosquitto, HiveMQ, EMQX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7925760" y="2458440"/>
            <a:ext cx="6580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entrega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2" descr="arrow-right"/>
          <p:cNvPicPr/>
          <p:nvPr/>
        </p:nvPicPr>
        <p:blipFill>
          <a:blip r:embed="rId3"/>
          <a:stretch/>
        </p:blipFill>
        <p:spPr>
          <a:xfrm>
            <a:off x="7873920" y="2748240"/>
            <a:ext cx="76176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15"/>
          <p:cNvSpPr/>
          <p:nvPr/>
        </p:nvSpPr>
        <p:spPr>
          <a:xfrm>
            <a:off x="8839080" y="1681200"/>
            <a:ext cx="26157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pc="51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ASSINANTES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8842320" y="1999080"/>
            <a:ext cx="2533320" cy="897840"/>
          </a:xfrm>
          <a:prstGeom prst="roundRect">
            <a:avLst>
              <a:gd name="adj" fmla="val 10958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9047880" y="2179080"/>
            <a:ext cx="21862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Painel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9047880" y="2504160"/>
            <a:ext cx="21862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37A33"/>
                </a:solidFill>
                <a:effectLst/>
                <a:uFillTx/>
                <a:latin typeface="IBM Plex Mono"/>
                <a:ea typeface="IBM Plex Mono"/>
              </a:rPr>
              <a:t>casa/#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9"/>
          <p:cNvSpPr/>
          <p:nvPr/>
        </p:nvSpPr>
        <p:spPr>
          <a:xfrm>
            <a:off x="8842320" y="3005280"/>
            <a:ext cx="2533320" cy="897840"/>
          </a:xfrm>
          <a:prstGeom prst="roundRect">
            <a:avLst>
              <a:gd name="adj" fmla="val 10958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9047880" y="3185280"/>
            <a:ext cx="218628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Banco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9047880" y="3510360"/>
            <a:ext cx="21862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237A33"/>
                </a:solidFill>
                <a:effectLst/>
                <a:uFillTx/>
                <a:latin typeface="IBM Plex Mono"/>
                <a:ea typeface="IBM Plex Mono"/>
              </a:rPr>
              <a:t>casa/+/temperatura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2"/>
          <p:cNvSpPr/>
          <p:nvPr/>
        </p:nvSpPr>
        <p:spPr>
          <a:xfrm>
            <a:off x="812880" y="432792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Quem publica não sabe quem assina, e vice-versa: o broker desacopla os dois lados.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Tópicos organizam as mensagens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76" name="Text 2"/>
          <p:cNvSpPr/>
          <p:nvPr/>
        </p:nvSpPr>
        <p:spPr>
          <a:xfrm>
            <a:off x="812880" y="1615320"/>
            <a:ext cx="1330560" cy="721080"/>
          </a:xfrm>
          <a:prstGeom prst="roundRect">
            <a:avLst>
              <a:gd name="adj" fmla="val 10564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pt-BR" sz="3200" b="0" u="none" strike="noStrike">
                <a:solidFill>
                  <a:srgbClr val="F6F7F5"/>
                </a:solidFill>
                <a:effectLst/>
                <a:uFillTx/>
                <a:latin typeface="IBM Plex Mono"/>
                <a:ea typeface="IBM Plex Mono"/>
              </a:rPr>
              <a:t>casa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812880" y="2412720"/>
            <a:ext cx="1381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nível 1 · local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2270520" y="1981080"/>
            <a:ext cx="294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pt-BR" sz="3200" b="0" u="none" strike="noStrike">
                <a:solidFill>
                  <a:srgbClr val="2F9E41"/>
                </a:solidFill>
                <a:effectLst/>
                <a:uFillTx/>
                <a:latin typeface="IBM Plex Mono"/>
                <a:ea typeface="IBM Plex Mono"/>
              </a:rPr>
              <a:t>/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2641680" y="1615320"/>
            <a:ext cx="1330560" cy="721080"/>
          </a:xfrm>
          <a:prstGeom prst="roundRect">
            <a:avLst>
              <a:gd name="adj" fmla="val 10564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pt-BR" sz="3200" b="0" u="none" strike="noStrike">
                <a:solidFill>
                  <a:srgbClr val="F6F7F5"/>
                </a:solidFill>
                <a:effectLst/>
                <a:uFillTx/>
                <a:latin typeface="IBM Plex Mono"/>
                <a:ea typeface="IBM Plex Mono"/>
              </a:rPr>
              <a:t>sala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2641680" y="2412720"/>
            <a:ext cx="13813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nível 2 · cômodo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099320" y="1981080"/>
            <a:ext cx="294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pt-BR" sz="3200" b="0" u="none" strike="noStrike">
                <a:solidFill>
                  <a:srgbClr val="2F9E41"/>
                </a:solidFill>
                <a:effectLst/>
                <a:uFillTx/>
                <a:latin typeface="IBM Plex Mono"/>
                <a:ea typeface="IBM Plex Mono"/>
              </a:rPr>
              <a:t>/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4470480" y="1615320"/>
            <a:ext cx="3037320" cy="721080"/>
          </a:xfrm>
          <a:prstGeom prst="roundRect">
            <a:avLst>
              <a:gd name="adj" fmla="val 10564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pt-BR" sz="3200" b="0" u="none" strike="noStrike">
                <a:solidFill>
                  <a:srgbClr val="F6F7F5"/>
                </a:solidFill>
                <a:effectLst/>
                <a:uFillTx/>
                <a:latin typeface="IBM Plex Mono"/>
                <a:ea typeface="IBM Plex Mono"/>
              </a:rPr>
              <a:t>temperatura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4470480" y="2412720"/>
            <a:ext cx="3128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nível 3 · grandeza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4" name="Table 0"/>
          <p:cNvGraphicFramePr/>
          <p:nvPr/>
        </p:nvGraphicFramePr>
        <p:xfrm>
          <a:off x="823320" y="2992320"/>
          <a:ext cx="10555560" cy="1535400"/>
        </p:xfrm>
        <a:graphic>
          <a:graphicData uri="http://schemas.openxmlformats.org/drawingml/2006/table">
            <a:tbl>
              <a:tblPr/>
              <a:tblGrid>
                <a:gridCol w="3588840"/>
                <a:gridCol w="3483360"/>
                <a:gridCol w="3483360"/>
              </a:tblGrid>
              <a:tr h="3837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pt-BR" sz="1400" b="1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Filtro de assinatura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B6B7B5"/>
                      </a:solidFill>
                      <a:prstDash val="solid"/>
                    </a:lnR>
                    <a:lnT w="12240">
                      <a:solidFill>
                        <a:srgbClr val="C4C5C3"/>
                      </a:solidFill>
                      <a:prstDash val="solid"/>
                    </a:lnT>
                    <a:lnB w="12240">
                      <a:solidFill>
                        <a:srgbClr val="B6B7B5"/>
                      </a:solidFill>
                      <a:prstDash val="solid"/>
                    </a:lnB>
                    <a:solidFill>
                      <a:srgbClr val="E4E5E3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Significado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6B7B5"/>
                      </a:solidFill>
                      <a:prstDash val="solid"/>
                    </a:lnL>
                    <a:lnR w="12240">
                      <a:solidFill>
                        <a:srgbClr val="B6B7B5"/>
                      </a:solidFill>
                      <a:prstDash val="solid"/>
                    </a:lnR>
                    <a:lnT w="12240">
                      <a:solidFill>
                        <a:srgbClr val="C4C5C3"/>
                      </a:solidFill>
                      <a:prstDash val="solid"/>
                    </a:lnT>
                    <a:lnB w="12240">
                      <a:solidFill>
                        <a:srgbClr val="B6B7B5"/>
                      </a:solidFill>
                      <a:prstDash val="solid"/>
                    </a:lnB>
                    <a:solidFill>
                      <a:srgbClr val="E4E5E3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Também recebe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6B7B5"/>
                      </a:solidFill>
                      <a:prstDash val="solid"/>
                    </a:lnL>
                    <a:lnR w="12240">
                      <a:solidFill>
                        <a:srgbClr val="B6B7B5"/>
                      </a:solidFill>
                      <a:prstDash val="solid"/>
                    </a:lnR>
                    <a:lnT w="12240">
                      <a:solidFill>
                        <a:srgbClr val="C4C5C3"/>
                      </a:solidFill>
                      <a:prstDash val="solid"/>
                    </a:lnT>
                    <a:lnB w="12240">
                      <a:solidFill>
                        <a:srgbClr val="B6B7B5"/>
                      </a:solidFill>
                      <a:prstDash val="solid"/>
                    </a:lnB>
                    <a:solidFill>
                      <a:srgbClr val="E4E5E3"/>
                    </a:solidFill>
                  </a:tcPr>
                </a:tc>
              </a:tr>
              <a:tr h="3837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casa/sala/temperatura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C4C5C3"/>
                      </a:solidFill>
                      <a:prstDash val="solid"/>
                    </a:lnR>
                    <a:lnT w="12240">
                      <a:solidFill>
                        <a:srgbClr val="B6B7B5"/>
                      </a:solidFill>
                      <a:prstDash val="solid"/>
                    </a:lnT>
                    <a:lnB w="12240">
                      <a:solidFill>
                        <a:srgbClr val="C4C5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só esse tópico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C4C5C3"/>
                      </a:solidFill>
                      <a:prstDash val="solid"/>
                    </a:lnR>
                    <a:lnT w="12240">
                      <a:solidFill>
                        <a:srgbClr val="B6B7B5"/>
                      </a:solidFill>
                      <a:prstDash val="solid"/>
                    </a:lnT>
                    <a:lnB w="12240">
                      <a:solidFill>
                        <a:srgbClr val="C4C5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—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C4C5C3"/>
                      </a:solidFill>
                      <a:prstDash val="solid"/>
                    </a:lnR>
                    <a:lnT w="12240">
                      <a:solidFill>
                        <a:srgbClr val="B6B7B5"/>
                      </a:solidFill>
                      <a:prstDash val="solid"/>
                    </a:lnT>
                    <a:lnB w="12240">
                      <a:solidFill>
                        <a:srgbClr val="C4C5C3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casa/+/temperatura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B9C0B9"/>
                      </a:solidFill>
                      <a:prstDash val="solid"/>
                    </a:lnR>
                    <a:lnT w="12240">
                      <a:solidFill>
                        <a:srgbClr val="C4C5C3"/>
                      </a:solidFill>
                      <a:prstDash val="solid"/>
                    </a:lnT>
                    <a:lnB w="12240">
                      <a:solidFill>
                        <a:srgbClr val="B9C0B9"/>
                      </a:solidFill>
                      <a:prstDash val="solid"/>
                    </a:lnB>
                    <a:solidFill>
                      <a:srgbClr val="E7F1E8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+ vale por um nível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9C0B9"/>
                      </a:solidFill>
                      <a:prstDash val="solid"/>
                    </a:lnL>
                    <a:lnR w="12240">
                      <a:solidFill>
                        <a:srgbClr val="B9C0B9"/>
                      </a:solidFill>
                      <a:prstDash val="solid"/>
                    </a:lnR>
                    <a:lnT w="12240">
                      <a:solidFill>
                        <a:srgbClr val="C4C5C3"/>
                      </a:solidFill>
                      <a:prstDash val="solid"/>
                    </a:lnT>
                    <a:lnB w="12240">
                      <a:solidFill>
                        <a:srgbClr val="B9C0B9"/>
                      </a:solidFill>
                      <a:prstDash val="solid"/>
                    </a:lnB>
                    <a:solidFill>
                      <a:srgbClr val="E7F1E8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casa/quarto/temperatura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9C0B9"/>
                      </a:solidFill>
                      <a:prstDash val="solid"/>
                    </a:lnL>
                    <a:lnR w="12240">
                      <a:solidFill>
                        <a:srgbClr val="B9C0B9"/>
                      </a:solidFill>
                      <a:prstDash val="solid"/>
                    </a:lnR>
                    <a:lnT w="12240">
                      <a:solidFill>
                        <a:srgbClr val="C4C5C3"/>
                      </a:solidFill>
                      <a:prstDash val="solid"/>
                    </a:lnT>
                    <a:lnB w="12240">
                      <a:solidFill>
                        <a:srgbClr val="B9C0B9"/>
                      </a:solidFill>
                      <a:prstDash val="solid"/>
                    </a:lnB>
                    <a:solidFill>
                      <a:srgbClr val="E7F1E8"/>
                    </a:solidFill>
                  </a:tcPr>
                </a:tc>
              </a:tr>
              <a:tr h="3837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casa/#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C4C5C3"/>
                      </a:solidFill>
                      <a:prstDash val="solid"/>
                    </a:lnR>
                    <a:lnT w="12240">
                      <a:solidFill>
                        <a:srgbClr val="B9C0B9"/>
                      </a:solidFill>
                      <a:prstDash val="solid"/>
                    </a:lnT>
                    <a:lnB w="12240">
                      <a:solidFill>
                        <a:srgbClr val="C4C5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# vale por todos os níveis abaixo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C4C5C3"/>
                      </a:solidFill>
                      <a:prstDash val="solid"/>
                    </a:lnR>
                    <a:lnT w="12240">
                      <a:solidFill>
                        <a:srgbClr val="B9C0B9"/>
                      </a:solidFill>
                      <a:prstDash val="solid"/>
                    </a:lnT>
                    <a:lnB w="12240">
                      <a:solidFill>
                        <a:srgbClr val="C4C5C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E2621"/>
                          </a:solidFill>
                          <a:effectLst/>
                          <a:uFillTx/>
                          <a:latin typeface="Open Sans"/>
                          <a:ea typeface="Open Sans"/>
                        </a:rPr>
                        <a:t>casa/sala/luz/estado</a:t>
                      </a:r>
                      <a:endParaRPr lang="pt-BR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4C5C3"/>
                      </a:solidFill>
                      <a:prstDash val="solid"/>
                    </a:lnL>
                    <a:lnR w="12240">
                      <a:solidFill>
                        <a:srgbClr val="C4C5C3"/>
                      </a:solidFill>
                      <a:prstDash val="solid"/>
                    </a:lnR>
                    <a:lnT w="12240">
                      <a:solidFill>
                        <a:srgbClr val="B9C0B9"/>
                      </a:solidFill>
                      <a:prstDash val="solid"/>
                    </a:lnT>
                    <a:lnB w="12240">
                      <a:solidFill>
                        <a:srgbClr val="C4C5C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5" name="Text 10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Qualidade de serviço (QoS)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812880" y="1615320"/>
            <a:ext cx="3386160" cy="2834280"/>
          </a:xfrm>
          <a:prstGeom prst="roundRect">
            <a:avLst>
              <a:gd name="adj" fmla="val 4480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117440" y="1920240"/>
            <a:ext cx="28602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pt-BR" sz="4800" b="1" u="none" strike="noStrike">
                <a:solidFill>
                  <a:srgbClr val="4CC061"/>
                </a:solidFill>
                <a:effectLst/>
                <a:uFillTx/>
                <a:latin typeface="Open Sans"/>
                <a:ea typeface="Open Sans"/>
              </a:rPr>
              <a:t>0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1117440" y="2656800"/>
            <a:ext cx="28602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No máximo uma vez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117440" y="3058200"/>
            <a:ext cx="2860200" cy="7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Envia e esquece, sem confirmação. Pode perder mensagens.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1117440" y="3931920"/>
            <a:ext cx="2860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B9C4BD"/>
                </a:solidFill>
                <a:effectLst/>
                <a:uFillTx/>
                <a:latin typeface="Open Sans"/>
                <a:ea typeface="Open Sans"/>
              </a:rPr>
              <a:t>Uso: leituras frequentes de sensores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4402800" y="1615320"/>
            <a:ext cx="3386520" cy="2834280"/>
          </a:xfrm>
          <a:prstGeom prst="roundRect">
            <a:avLst>
              <a:gd name="adj" fmla="val 4480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4707360" y="1920240"/>
            <a:ext cx="28602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pt-BR" sz="4800" b="1" u="none" strike="noStrike">
                <a:solidFill>
                  <a:srgbClr val="4CC061"/>
                </a:solidFill>
                <a:effectLst/>
                <a:uFillTx/>
                <a:latin typeface="Open Sans"/>
                <a:ea typeface="Open Sans"/>
              </a:rPr>
              <a:t>1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4707360" y="2656800"/>
            <a:ext cx="28602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Pelo menos uma vez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4707360" y="3058200"/>
            <a:ext cx="2860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Reenvia até receber PUBACK. Pode chegar duplicada.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4707360" y="3682800"/>
            <a:ext cx="2860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B9C4BD"/>
                </a:solidFill>
                <a:effectLst/>
                <a:uFillTx/>
                <a:latin typeface="Open Sans"/>
                <a:ea typeface="Open Sans"/>
              </a:rPr>
              <a:t>Uso: comandos e alertas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2"/>
          <p:cNvSpPr/>
          <p:nvPr/>
        </p:nvSpPr>
        <p:spPr>
          <a:xfrm>
            <a:off x="7992360" y="1615320"/>
            <a:ext cx="3386520" cy="2834280"/>
          </a:xfrm>
          <a:prstGeom prst="roundRect">
            <a:avLst>
              <a:gd name="adj" fmla="val 4480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8297280" y="1920240"/>
            <a:ext cx="28602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pt-BR" sz="4800" b="1" u="none" strike="noStrike">
                <a:solidFill>
                  <a:srgbClr val="4CC061"/>
                </a:solidFill>
                <a:effectLst/>
                <a:uFillTx/>
                <a:latin typeface="Open Sans"/>
                <a:ea typeface="Open Sans"/>
              </a:rPr>
              <a:t>2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8297280" y="2656800"/>
            <a:ext cx="28602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Exatamente uma vez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8297280" y="3058200"/>
            <a:ext cx="2860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Troca de quatro mensagens garante entrega única.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8297280" y="3682800"/>
            <a:ext cx="28602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B9C4BD"/>
                </a:solidFill>
                <a:effectLst/>
                <a:uFillTx/>
                <a:latin typeface="Open Sans"/>
                <a:ea typeface="Open Sans"/>
              </a:rPr>
              <a:t>Uso: quando duplicar é inaceitável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812880" y="480564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Quanto maior o QoS, mais garantia, e também mais tráfego e latência.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Recursos que fazem diferença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816120" y="1618560"/>
            <a:ext cx="5175000" cy="1385640"/>
          </a:xfrm>
          <a:prstGeom prst="roundRect">
            <a:avLst>
              <a:gd name="adj" fmla="val 7101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1072080" y="1874520"/>
            <a:ext cx="48024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Mensagem retida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072080" y="2250720"/>
            <a:ext cx="48024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O broker guarda a última mensagem do tópico. Quem assina depois recebe o estado atual na hora.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6200640" y="1618560"/>
            <a:ext cx="5175000" cy="1385640"/>
          </a:xfrm>
          <a:prstGeom prst="roundRect">
            <a:avLst>
              <a:gd name="adj" fmla="val 7101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6456960" y="1874520"/>
            <a:ext cx="48027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Last Will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6456960" y="2250720"/>
            <a:ext cx="4802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Se o cliente cair sem se despedir, o broker publica por ele, por exemplo "offline" em casa/sala/status.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816120" y="3214080"/>
            <a:ext cx="5175000" cy="1385640"/>
          </a:xfrm>
          <a:prstGeom prst="roundRect">
            <a:avLst>
              <a:gd name="adj" fmla="val 7101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1072080" y="3470040"/>
            <a:ext cx="48024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Keep Alive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1072080" y="3846240"/>
            <a:ext cx="48024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O cliente manda um sinal periódico (PINGREQ), e assim o broker detecta conexões mortas.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6200640" y="3214080"/>
            <a:ext cx="5175000" cy="1385640"/>
          </a:xfrm>
          <a:prstGeom prst="roundRect">
            <a:avLst>
              <a:gd name="adj" fmla="val 7101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6456960" y="3470040"/>
            <a:ext cx="48027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Sessão persistente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6456960" y="3846240"/>
            <a:ext cx="4802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O broker guarda assinaturas e mensagens QoS 1 e 2 enquanto o cliente está desconectado.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9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6781680"/>
            <a:ext cx="12191760" cy="75960"/>
          </a:xfrm>
          <a:prstGeom prst="rect">
            <a:avLst/>
          </a:prstGeom>
          <a:solidFill>
            <a:srgbClr val="CD19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812880" y="226836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pc="99" strike="noStrike">
                <a:solidFill>
                  <a:srgbClr val="0F2A16"/>
                </a:solidFill>
                <a:effectLst/>
                <a:uFillTx/>
                <a:latin typeface="Open Sans"/>
                <a:ea typeface="Open Sans"/>
              </a:rPr>
              <a:t>EXEMPLO PRÁTICO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12880" y="2735640"/>
            <a:ext cx="9156240" cy="130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040"/>
              </a:lnSpc>
              <a:buNone/>
              <a:tabLst>
                <a:tab pos="0" algn="l"/>
              </a:tabLst>
            </a:pPr>
            <a:r>
              <a:rPr lang="pt-BR" sz="4800" b="1" u="none" strike="noStrik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Monitorando a temperatura de uma sala</a:t>
            </a:r>
            <a:endParaRPr lang="pt-BR" sz="48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812880" y="4269600"/>
            <a:ext cx="108831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2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0F2A16"/>
                </a:solidFill>
                <a:effectLst/>
                <a:uFillTx/>
                <a:latin typeface="IBM Plex Mono"/>
                <a:ea typeface="IBM Plex Mono"/>
              </a:rPr>
              <a:t>ESP32 + DHT22 → Mosquitto → Python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Arquitetura do exemplo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816120" y="1618560"/>
            <a:ext cx="2180520" cy="1568520"/>
          </a:xfrm>
          <a:prstGeom prst="roundRect">
            <a:avLst>
              <a:gd name="adj" fmla="val 6274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Activity"/>
          <p:cNvPicPr/>
          <p:nvPr/>
        </p:nvPicPr>
        <p:blipFill>
          <a:blip r:embed="rId1"/>
          <a:stretch/>
        </p:blipFill>
        <p:spPr>
          <a:xfrm>
            <a:off x="1021320" y="18237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3"/>
          <p:cNvSpPr/>
          <p:nvPr/>
        </p:nvSpPr>
        <p:spPr>
          <a:xfrm>
            <a:off x="1021320" y="2204640"/>
            <a:ext cx="18230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DHT22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1021320" y="2555280"/>
            <a:ext cx="182304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mede temperatura e umidade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1" descr="arrow-right"/>
          <p:cNvPicPr/>
          <p:nvPr/>
        </p:nvPicPr>
        <p:blipFill>
          <a:blip r:embed="rId2"/>
          <a:stretch/>
        </p:blipFill>
        <p:spPr>
          <a:xfrm>
            <a:off x="3101400" y="2301120"/>
            <a:ext cx="40608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hape 5"/>
          <p:cNvSpPr/>
          <p:nvPr/>
        </p:nvSpPr>
        <p:spPr>
          <a:xfrm>
            <a:off x="3612600" y="1618560"/>
            <a:ext cx="2180520" cy="1568520"/>
          </a:xfrm>
          <a:prstGeom prst="roundRect">
            <a:avLst>
              <a:gd name="adj" fmla="val 6274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2" descr="Lightning"/>
          <p:cNvPicPr/>
          <p:nvPr/>
        </p:nvPicPr>
        <p:blipFill>
          <a:blip r:embed="rId3"/>
          <a:stretch/>
        </p:blipFill>
        <p:spPr>
          <a:xfrm>
            <a:off x="3817800" y="18237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6"/>
          <p:cNvSpPr/>
          <p:nvPr/>
        </p:nvSpPr>
        <p:spPr>
          <a:xfrm>
            <a:off x="3817800" y="2204640"/>
            <a:ext cx="18230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ESP32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3817800" y="2555280"/>
            <a:ext cx="182304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lê o sensor e publica a cada 5 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3" descr="arrow-right"/>
          <p:cNvPicPr/>
          <p:nvPr/>
        </p:nvPicPr>
        <p:blipFill>
          <a:blip r:embed="rId4"/>
          <a:stretch/>
        </p:blipFill>
        <p:spPr>
          <a:xfrm>
            <a:off x="5898240" y="2301120"/>
            <a:ext cx="40608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Shape 8"/>
          <p:cNvSpPr/>
          <p:nvPr/>
        </p:nvSpPr>
        <p:spPr>
          <a:xfrm>
            <a:off x="6406200" y="1620720"/>
            <a:ext cx="2176200" cy="1564200"/>
          </a:xfrm>
          <a:prstGeom prst="roundRect">
            <a:avLst>
              <a:gd name="adj" fmla="val 6494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4" descr="Cloud"/>
          <p:cNvPicPr/>
          <p:nvPr/>
        </p:nvPicPr>
        <p:blipFill>
          <a:blip r:embed="rId5"/>
          <a:stretch/>
        </p:blipFill>
        <p:spPr>
          <a:xfrm>
            <a:off x="6609240" y="18237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9"/>
          <p:cNvSpPr/>
          <p:nvPr/>
        </p:nvSpPr>
        <p:spPr>
          <a:xfrm>
            <a:off x="6609240" y="2204640"/>
            <a:ext cx="18230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Mosquitto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6609240" y="2555280"/>
            <a:ext cx="182304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B9C4BD"/>
                </a:solidFill>
                <a:effectLst/>
                <a:uFillTx/>
                <a:latin typeface="Open Sans"/>
                <a:ea typeface="Open Sans"/>
              </a:rPr>
              <a:t>broker num PC ou Raspberry Pi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5" descr="arrow-right"/>
          <p:cNvPicPr/>
          <p:nvPr/>
        </p:nvPicPr>
        <p:blipFill>
          <a:blip r:embed="rId6"/>
          <a:stretch/>
        </p:blipFill>
        <p:spPr>
          <a:xfrm>
            <a:off x="8684280" y="2301120"/>
            <a:ext cx="40608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Shape 11"/>
          <p:cNvSpPr/>
          <p:nvPr/>
        </p:nvSpPr>
        <p:spPr>
          <a:xfrm>
            <a:off x="9195120" y="1618560"/>
            <a:ext cx="2180520" cy="1568520"/>
          </a:xfrm>
          <a:prstGeom prst="roundRect">
            <a:avLst>
              <a:gd name="adj" fmla="val 6274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6" descr="Code"/>
          <p:cNvPicPr/>
          <p:nvPr/>
        </p:nvPicPr>
        <p:blipFill>
          <a:blip r:embed="rId7"/>
          <a:stretch/>
        </p:blipFill>
        <p:spPr>
          <a:xfrm>
            <a:off x="9400680" y="18237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2"/>
          <p:cNvSpPr/>
          <p:nvPr/>
        </p:nvSpPr>
        <p:spPr>
          <a:xfrm>
            <a:off x="9400680" y="2204640"/>
            <a:ext cx="18230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Python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9400680" y="2555280"/>
            <a:ext cx="182304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assina o tópico e exibe os valores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812880" y="3546000"/>
            <a:ext cx="10566000" cy="604080"/>
          </a:xfrm>
          <a:prstGeom prst="roundRect">
            <a:avLst>
              <a:gd name="adj" fmla="val 16809"/>
            </a:avLst>
          </a:prstGeom>
          <a:solidFill>
            <a:srgbClr val="E7F1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1066680" y="3723840"/>
            <a:ext cx="2808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Tópico</a:t>
            </a: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 </a:t>
            </a:r>
            <a:r>
              <a:rPr lang="pt-BR" sz="1400" b="0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casa/sala/temperatura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3876120" y="3723840"/>
            <a:ext cx="163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Mensagem</a:t>
            </a: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 </a:t>
            </a:r>
            <a:r>
              <a:rPr lang="pt-BR" sz="1400" b="0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24.5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5544000" y="3723840"/>
            <a:ext cx="596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QoS</a:t>
            </a: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 </a:t>
            </a:r>
            <a:r>
              <a:rPr lang="pt-BR" sz="1400" b="0" u="none" strike="noStrike">
                <a:solidFill>
                  <a:srgbClr val="237A33"/>
                </a:solidFill>
                <a:effectLst/>
                <a:uFillTx/>
                <a:latin typeface="Open Sans"/>
                <a:ea typeface="Open Sans"/>
              </a:rPr>
              <a:t>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812880" y="450612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1" u="none" spc="51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MATERIAL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816120" y="4824000"/>
            <a:ext cx="1154880" cy="344160"/>
          </a:xfrm>
          <a:prstGeom prst="roundRect">
            <a:avLst>
              <a:gd name="adj" fmla="val 50000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Placa ESP32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2053800" y="4824000"/>
            <a:ext cx="1318680" cy="344160"/>
          </a:xfrm>
          <a:prstGeom prst="roundRect">
            <a:avLst>
              <a:gd name="adj" fmla="val 50000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Sensor DHT22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3455280" y="4824000"/>
            <a:ext cx="3762720" cy="344160"/>
          </a:xfrm>
          <a:prstGeom prst="roundRect">
            <a:avLst>
              <a:gd name="adj" fmla="val 50000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Arduino IDE + PubSubClient + DHT sensor library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7300800" y="4824000"/>
            <a:ext cx="1035720" cy="344160"/>
          </a:xfrm>
          <a:prstGeom prst="roundRect">
            <a:avLst>
              <a:gd name="adj" fmla="val 50000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Mosquitto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8419320" y="4824000"/>
            <a:ext cx="1857600" cy="344160"/>
          </a:xfrm>
          <a:prstGeom prst="roundRect">
            <a:avLst>
              <a:gd name="adj" fmla="val 50000"/>
            </a:avLst>
          </a:prstGeom>
          <a:solidFill>
            <a:srgbClr val="FDFEFD"/>
          </a:solidFill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Python 3 + paho-mqtt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4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Dispositivo: o ESP32 publica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825120" y="1564200"/>
            <a:ext cx="360" cy="822960"/>
          </a:xfrm>
          <a:prstGeom prst="line">
            <a:avLst/>
          </a:prstGeom>
          <a:ln w="25400">
            <a:solidFill>
              <a:srgbClr val="2F9E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988920" y="1781640"/>
            <a:ext cx="2957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r>
              <a:rPr lang="pt-BR" sz="18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Conexão</a:t>
            </a:r>
            <a:r>
              <a:rPr lang="pt-BR" sz="14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: ativa o Wi-Fi e conecta ao broker.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825120" y="2590560"/>
            <a:ext cx="360" cy="822960"/>
          </a:xfrm>
          <a:prstGeom prst="line">
            <a:avLst/>
          </a:prstGeom>
          <a:ln w="25400">
            <a:solidFill>
              <a:srgbClr val="2F9E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988920" y="2735640"/>
            <a:ext cx="2957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while</a:t>
            </a:r>
            <a:r>
              <a:rPr lang="pt-BR" sz="14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 True: a cada 5 s, lê o sensor e publica a temperatura.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825120" y="3616560"/>
            <a:ext cx="360" cy="822960"/>
          </a:xfrm>
          <a:prstGeom prst="line">
            <a:avLst/>
          </a:prstGeom>
          <a:ln w="25400">
            <a:solidFill>
              <a:srgbClr val="2F9E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0"/>
          <p:cNvSpPr/>
          <p:nvPr/>
        </p:nvSpPr>
        <p:spPr>
          <a:xfrm>
            <a:off x="988920" y="3942000"/>
            <a:ext cx="29577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r>
              <a:rPr lang="pt-BR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try</a:t>
            </a:r>
            <a:r>
              <a:rPr lang="pt-BR" sz="1800" b="1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 / except</a:t>
            </a:r>
            <a:r>
              <a:rPr lang="pt-BR" sz="14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: se a leitura falhar, ignora e tenta no próximo ciclo.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4179960" y="1406160"/>
            <a:ext cx="7213320" cy="4915440"/>
          </a:xfrm>
          <a:prstGeom prst="roundRect">
            <a:avLst>
              <a:gd name="adj" fmla="val 2382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22760" rIns="0" bIns="97200" anchor="t">
            <a:normAutofit/>
          </a:bodyPr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import network, time, dht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from machine import Pin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from umqtt.simple import MQTTClient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sensor = dht.DHT22(Pin(4))  # sensor no pino 4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wlan = network.WLAN(network.STA_IF)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wlan.active(True)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wlan.connect("[SSID]", "[SENHA]")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while not wlan.isconnected():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time.sleep(0.5)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mqtt = MQTTClient("esp32-sala", "[IP do broker]", port=1883)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mqtt.connect()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while True: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time.sleep(5)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try: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    sensor.measure()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    t = sensor.temperature()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    mqtt.publish("casa/sala/temperatura", "{:.1f}".format(t))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except OSError: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       pass  # leitura falhou, tenta de novo no próximo ciclo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Do outro lado: quem assina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812880" y="1564560"/>
            <a:ext cx="654012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Assinante em Python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812880" y="1965960"/>
            <a:ext cx="6349680" cy="2284920"/>
          </a:xfrm>
          <a:prstGeom prst="roundRect">
            <a:avLst>
              <a:gd name="adj" fmla="val 4446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22760" rIns="0" bIns="97200" anchor="t">
            <a:normAutofit/>
          </a:bodyPr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import paho.mqtt.client as mqtt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def on_message(client, userdata, msg):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    print(msg.topic, msg.payload.decode())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client = mqtt.Client(mqtt.CallbackAPIVersion.VERSION2)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client.on_message = on_message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client.connect(</a:t>
            </a:r>
            <a:r>
              <a:rPr lang="pt-BR" sz="1200" b="0" u="none" strike="noStrike">
                <a:solidFill>
                  <a:srgbClr val="8FD99C"/>
                </a:solidFill>
                <a:effectLst/>
                <a:uFillTx/>
                <a:latin typeface="IBM Plex Mono"/>
                <a:ea typeface="IBM Plex Mono"/>
              </a:rPr>
              <a:t>"[IP do broker]"</a:t>
            </a: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, 1883)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client.subscribe(</a:t>
            </a:r>
            <a:r>
              <a:rPr lang="pt-BR" sz="1200" b="0" u="none" strike="noStrike">
                <a:solidFill>
                  <a:srgbClr val="8FD99C"/>
                </a:solidFill>
                <a:effectLst/>
                <a:uFillTx/>
                <a:latin typeface="IBM Plex Mono"/>
                <a:ea typeface="IBM Plex Mono"/>
              </a:rPr>
              <a:t>"casa/+/temperatura"</a:t>
            </a: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59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client.loop_forever()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7416720" y="1564560"/>
            <a:ext cx="40809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Teste pelo terminal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416720" y="1965960"/>
            <a:ext cx="3962160" cy="990000"/>
          </a:xfrm>
          <a:prstGeom prst="roundRect">
            <a:avLst>
              <a:gd name="adj" fmla="val 10258"/>
            </a:avLst>
          </a:prstGeom>
          <a:solidFill>
            <a:srgbClr val="1B26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3520" tIns="122760" rIns="66600" bIns="9720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9AA89F"/>
                </a:solidFill>
                <a:effectLst/>
                <a:uFillTx/>
                <a:latin typeface="IBM Plex Mono"/>
                <a:ea typeface="IBM Plex Mono"/>
              </a:rPr>
              <a:t>$</a:t>
            </a: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pip install paho-mqtt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9AA89F"/>
                </a:solidFill>
                <a:effectLst/>
                <a:uFillTx/>
                <a:latin typeface="IBM Plex Mono"/>
                <a:ea typeface="IBM Plex Mono"/>
              </a:rPr>
              <a:t>$</a:t>
            </a:r>
            <a:r>
              <a:rPr lang="pt-BR" sz="1200" b="0" u="none" strike="noStrike">
                <a:solidFill>
                  <a:srgbClr val="E8EDE9"/>
                </a:solidFill>
                <a:effectLst/>
                <a:uFillTx/>
                <a:latin typeface="IBM Plex Mono"/>
                <a:ea typeface="IBM Plex Mono"/>
              </a:rPr>
              <a:t> mosquitto_sub -h [IP] -t "casa/#" -v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8FD99C"/>
                </a:solidFill>
                <a:effectLst/>
                <a:uFillTx/>
                <a:latin typeface="IBM Plex Mono"/>
                <a:ea typeface="IBM Plex Mono"/>
              </a:rPr>
              <a:t>casa/sala/temperatura 24.5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7416720" y="3083400"/>
            <a:ext cx="4080960" cy="6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Mosquitto 2.x só aceita conexões locais por padrão: adicione um listener na porta 1883 e autenticação no mosquitto.conf.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Boas práticas e segurança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812520" y="1621440"/>
            <a:ext cx="10566360" cy="360"/>
          </a:xfrm>
          <a:prstGeom prst="line">
            <a:avLst/>
          </a:prstGeom>
          <a:ln w="12700">
            <a:solidFill>
              <a:srgbClr val="1E26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812880" y="1778400"/>
            <a:ext cx="2746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Autenticação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3682800" y="1778400"/>
            <a:ext cx="792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usuário e senha no broker; nada de acesso anônimo fora do laboratório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812520" y="2182680"/>
            <a:ext cx="1056636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812880" y="2337480"/>
            <a:ext cx="2746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Criptografia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3682800" y="2337480"/>
            <a:ext cx="792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TLS na porta 8883 sempre que o tráfego sair da rede local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812520" y="2741760"/>
            <a:ext cx="1056636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812880" y="2896200"/>
            <a:ext cx="2746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Controle de acesso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3682800" y="2896200"/>
            <a:ext cx="792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ACLs definem quem pode publicar e assinar cada tópico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812520" y="3300480"/>
            <a:ext cx="1056636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812880" y="3455280"/>
            <a:ext cx="2746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Nomes de tópico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3682800" y="3455280"/>
            <a:ext cx="792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hierarquia consistente, sem espaços e sem barra no início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4"/>
          <p:cNvSpPr/>
          <p:nvPr/>
        </p:nvSpPr>
        <p:spPr>
          <a:xfrm>
            <a:off x="812520" y="3859560"/>
            <a:ext cx="1056636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5"/>
          <p:cNvSpPr/>
          <p:nvPr/>
        </p:nvSpPr>
        <p:spPr>
          <a:xfrm>
            <a:off x="812520" y="4417560"/>
            <a:ext cx="10566360" cy="360"/>
          </a:xfrm>
          <a:prstGeom prst="line">
            <a:avLst/>
          </a:prstGeom>
          <a:ln w="6350">
            <a:solidFill>
              <a:srgbClr val="D9D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812880" y="4014360"/>
            <a:ext cx="2746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1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Payload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7"/>
          <p:cNvSpPr/>
          <p:nvPr/>
        </p:nvSpPr>
        <p:spPr>
          <a:xfrm>
            <a:off x="3682800" y="4014360"/>
            <a:ext cx="792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1E2621"/>
                </a:solidFill>
                <a:effectLst/>
                <a:uFillTx/>
                <a:latin typeface="Open Sans"/>
                <a:ea typeface="Open Sans"/>
              </a:rPr>
              <a:t>pequeno; JSON com unidade e horário quando houver vários campos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59645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2F9E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521"/>
              </a:lnSpc>
              <a:buNone/>
              <a:tabLst>
                <a:tab pos="0" algn="l"/>
              </a:tabLst>
            </a:pPr>
            <a:r>
              <a:rPr lang="pt-BR" sz="32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Próximos passos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Open Sans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812880" y="1615320"/>
            <a:ext cx="3386160" cy="1838520"/>
          </a:xfrm>
          <a:prstGeom prst="roundRect">
            <a:avLst>
              <a:gd name="adj" fmla="val 6906"/>
            </a:avLst>
          </a:prstGeom>
          <a:solidFill>
            <a:srgbClr val="263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0" descr="Lightbulb"/>
          <p:cNvPicPr/>
          <p:nvPr/>
        </p:nvPicPr>
        <p:blipFill>
          <a:blip r:embed="rId1"/>
          <a:stretch/>
        </p:blipFill>
        <p:spPr>
          <a:xfrm>
            <a:off x="1066680" y="1869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3"/>
          <p:cNvSpPr/>
          <p:nvPr/>
        </p:nvSpPr>
        <p:spPr>
          <a:xfrm>
            <a:off x="1066680" y="2326680"/>
            <a:ext cx="29646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Controlar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1066680" y="2702520"/>
            <a:ext cx="29646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D3DBD5"/>
                </a:solidFill>
                <a:effectLst/>
                <a:uFillTx/>
                <a:latin typeface="Open Sans"/>
                <a:ea typeface="Open Sans"/>
              </a:rPr>
              <a:t>O ESP32 assina casa/sala/luz/set e aciona um relé.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4402800" y="1615320"/>
            <a:ext cx="3386520" cy="1838520"/>
          </a:xfrm>
          <a:prstGeom prst="roundRect">
            <a:avLst>
              <a:gd name="adj" fmla="val 6906"/>
            </a:avLst>
          </a:prstGeom>
          <a:solidFill>
            <a:srgbClr val="263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Chart"/>
          <p:cNvPicPr/>
          <p:nvPr/>
        </p:nvPicPr>
        <p:blipFill>
          <a:blip r:embed="rId2"/>
          <a:stretch/>
        </p:blipFill>
        <p:spPr>
          <a:xfrm>
            <a:off x="4656600" y="1869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6"/>
          <p:cNvSpPr/>
          <p:nvPr/>
        </p:nvSpPr>
        <p:spPr>
          <a:xfrm>
            <a:off x="4656600" y="2326680"/>
            <a:ext cx="29646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Visualizar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4656600" y="2702520"/>
            <a:ext cx="29646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D3DBD5"/>
                </a:solidFill>
                <a:effectLst/>
                <a:uFillTx/>
                <a:latin typeface="Open Sans"/>
                <a:ea typeface="Open Sans"/>
              </a:rPr>
              <a:t>Node-RED, ou InfluxDB com Grafana, para histórico e gráficos.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7992360" y="1615320"/>
            <a:ext cx="3386520" cy="1838520"/>
          </a:xfrm>
          <a:prstGeom prst="roundRect">
            <a:avLst>
              <a:gd name="adj" fmla="val 6906"/>
            </a:avLst>
          </a:prstGeom>
          <a:solidFill>
            <a:srgbClr val="2633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2" descr="Lock"/>
          <p:cNvPicPr/>
          <p:nvPr/>
        </p:nvPicPr>
        <p:blipFill>
          <a:blip r:embed="rId3"/>
          <a:stretch/>
        </p:blipFill>
        <p:spPr>
          <a:xfrm>
            <a:off x="8246520" y="186948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9"/>
          <p:cNvSpPr/>
          <p:nvPr/>
        </p:nvSpPr>
        <p:spPr>
          <a:xfrm>
            <a:off x="8246520" y="2326680"/>
            <a:ext cx="296460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pt-BR" sz="1800" b="1" u="none" strike="noStrike">
                <a:solidFill>
                  <a:srgbClr val="F6F7F5"/>
                </a:solidFill>
                <a:effectLst/>
                <a:uFillTx/>
                <a:latin typeface="Open Sans"/>
                <a:ea typeface="Open Sans"/>
              </a:rPr>
              <a:t>Robustecer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0"/>
          <p:cNvSpPr/>
          <p:nvPr/>
        </p:nvSpPr>
        <p:spPr>
          <a:xfrm>
            <a:off x="8246520" y="2702520"/>
            <a:ext cx="29646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D3DBD5"/>
                </a:solidFill>
                <a:effectLst/>
                <a:uFillTx/>
                <a:latin typeface="Open Sans"/>
                <a:ea typeface="Open Sans"/>
              </a:rPr>
              <a:t>Last Will para status, QoS 1 para comandos e TLS no broker.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812880" y="5435640"/>
            <a:ext cx="108831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pt-BR" sz="4800" b="1" u="none" strike="noStrike">
                <a:solidFill>
                  <a:srgbClr val="4CC061"/>
                </a:solidFill>
                <a:effectLst/>
                <a:uFillTx/>
                <a:latin typeface="Open Sans"/>
                <a:ea typeface="Open Sans"/>
              </a:rPr>
              <a:t>Perguntas?</a:t>
            </a:r>
            <a:endParaRPr lang="pt-B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812880" y="6339960"/>
            <a:ext cx="7848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D191E"/>
                </a:solidFill>
                <a:effectLst/>
                <a:uFillTx/>
                <a:latin typeface="Open Sans"/>
                <a:ea typeface="Open Sans"/>
              </a:rPr>
              <a:t>●</a:t>
            </a:r>
            <a:r>
              <a:rPr lang="pt-BR" sz="1200" b="0" u="none" strike="noStrike">
                <a:solidFill>
                  <a:srgbClr val="B9C4BD"/>
                </a:solidFill>
                <a:effectLst/>
                <a:uFillTx/>
                <a:latin typeface="Open Sans"/>
                <a:ea typeface="Open Sans"/>
              </a:rPr>
              <a:t>  Instituto Federal de Santa Catarina · MQTT na prática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QTT na prática">
  <a:themeElements>
    <a:clrScheme name="MQTT na prática">
      <a:dk1>
        <a:srgbClr val="1E2621"/>
      </a:dk1>
      <a:lt1>
        <a:srgbClr val="F6F7F5"/>
      </a:lt1>
      <a:dk2>
        <a:srgbClr val="545A56"/>
      </a:dk2>
      <a:lt2>
        <a:srgbClr val="E0E2E0"/>
      </a:lt2>
      <a:accent1>
        <a:srgbClr val="2F9E41"/>
      </a:accent1>
      <a:accent2>
        <a:srgbClr val="237A33"/>
      </a:accent2>
      <a:accent3>
        <a:srgbClr val="4CC061"/>
      </a:accent3>
      <a:accent4>
        <a:srgbClr val="CD191E"/>
      </a:accent4>
      <a:accent5>
        <a:srgbClr val="59645D"/>
      </a:accent5>
      <a:accent6>
        <a:srgbClr val="B9C4BD"/>
      </a:accent6>
      <a:hlink>
        <a:srgbClr val="0563C1"/>
      </a:hlink>
      <a:folHlink>
        <a:srgbClr val="954F72"/>
      </a:folHlink>
    </a:clrScheme>
    <a:fontScheme name="MQTT na prática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2026-10-01T21:23:40Z</dcterms:created>
  <dc:creator/>
  <dc:description/>
  <dc:language>pt-BR</dc:language>
  <cp:lastModifiedBy/>
  <dcterms:modified xsi:type="dcterms:W3CDTF">2026-10-01T18:34:06Z</dcterms:modified>
  <cp:revision>2</cp:revision>
  <dc:subject/>
  <dc:title>MQTT na prática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